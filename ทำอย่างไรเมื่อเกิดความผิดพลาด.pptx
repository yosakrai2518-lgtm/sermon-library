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1" r:id="rId12"/>
    <p:sldId id="271" r:id="rId13"/>
    <p:sldId id="266" r:id="rId14"/>
    <p:sldId id="272" r:id="rId15"/>
    <p:sldId id="282" r:id="rId16"/>
    <p:sldId id="267" r:id="rId17"/>
    <p:sldId id="268" r:id="rId18"/>
    <p:sldId id="273" r:id="rId19"/>
    <p:sldId id="283" r:id="rId20"/>
    <p:sldId id="277" r:id="rId21"/>
    <p:sldId id="278" r:id="rId22"/>
    <p:sldId id="269" r:id="rId23"/>
    <p:sldId id="274" r:id="rId24"/>
    <p:sldId id="284" r:id="rId25"/>
    <p:sldId id="275" r:id="rId26"/>
    <p:sldId id="270" r:id="rId27"/>
    <p:sldId id="276" r:id="rId28"/>
    <p:sldId id="285" r:id="rId29"/>
    <p:sldId id="279" r:id="rId30"/>
    <p:sldId id="280" r:id="rId31"/>
    <p:sldId id="287" r:id="rId32"/>
    <p:sldId id="286" r:id="rId33"/>
    <p:sldId id="288" r:id="rId34"/>
  </p:sldIdLst>
  <p:sldSz cx="12192000" cy="6858000"/>
  <p:notesSz cx="6858000" cy="9144000"/>
  <p:embeddedFontLst>
    <p:embeddedFont>
      <p:font typeface="Avenir Next" panose="020B0503020202020204" pitchFamily="34" charset="0"/>
      <p:regular r:id="rId35"/>
      <p:bold r:id="rId36"/>
      <p:italic r:id="rId37"/>
      <p:boldItalic r:id="rId38"/>
    </p:embeddedFont>
    <p:embeddedFont>
      <p:font typeface="Bai Jamjuree" pitchFamily="2" charset="-34"/>
      <p:regular r:id="rId39"/>
      <p:bold r:id="rId40"/>
      <p:italic r:id="rId41"/>
      <p:boldItalic r:id="rId42"/>
    </p:embeddedFont>
    <p:embeddedFont>
      <p:font typeface="Bai Jamjuree ExtraLight" pitchFamily="2" charset="-34"/>
      <p:regular r:id="rId43"/>
      <p:italic r:id="rId44"/>
    </p:embeddedFont>
    <p:embeddedFont>
      <p:font typeface="Chonburi" pitchFamily="2" charset="-34"/>
      <p:regular r:id="rId45"/>
    </p:embeddedFont>
    <p:embeddedFont>
      <p:font typeface="Kanit" pitchFamily="2" charset="-34"/>
      <p:regular r:id="rId46"/>
      <p:bold r:id="rId47"/>
      <p:italic r:id="rId48"/>
      <p:boldItalic r:id="rId49"/>
    </p:embeddedFont>
    <p:embeddedFont>
      <p:font typeface="Kanit ExtraBold" pitchFamily="2" charset="-34"/>
      <p:bold r:id="rId50"/>
      <p:italic r:id="rId51"/>
      <p:boldItalic r:id="rId52"/>
    </p:embeddedFont>
    <p:embeddedFont>
      <p:font typeface="Kanit Medium" pitchFamily="2" charset="-34"/>
      <p:regular r:id="rId53"/>
      <p:italic r:id="rId54"/>
    </p:embeddedFont>
    <p:embeddedFont>
      <p:font typeface="Kanit SemiBold" pitchFamily="2" charset="-34"/>
      <p:regular r:id="rId55"/>
      <p:bold r:id="rId56"/>
      <p:italic r:id="rId57"/>
      <p:boldItalic r:id="rId58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165"/>
    <a:srgbClr val="EDE9DB"/>
    <a:srgbClr val="DA4513"/>
    <a:srgbClr val="2C3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46"/>
  </p:normalViewPr>
  <p:slideViewPr>
    <p:cSldViewPr snapToGrid="0" showGuides="1">
      <p:cViewPr varScale="1">
        <p:scale>
          <a:sx n="85" d="100"/>
          <a:sy n="85" d="100"/>
        </p:scale>
        <p:origin x="1024" y="47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C2EEB48-FF29-02BE-4E72-97283AC24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8603ADC2-5F18-8A51-31B4-80234E0CC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1CFCF66-44B4-9376-3A2A-FE96959E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34D878B-43A1-4716-91F3-DFA85DD2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51983B8-2E02-9511-17F8-612D6BF7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302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BAD26A7-D0B3-C098-A323-DD5B49F1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BC6B484-FEDF-3233-DFCF-C5FE557D6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9FE0A0D-1C6C-A5F3-484B-3F5C8739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0B3487C-BA76-9B1D-F7D4-CE882C53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31F409E-F960-3FD6-7859-7E5907E0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817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349E59A-0A7C-0C2D-EB7A-788EB60E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E772E989-22CF-0F9F-17E0-5D9C95932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DFD4D4B-6060-0FC9-9EA8-C6447FAB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7390268-10E6-23BD-0915-F1BF684E3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3261E66-D383-AC3D-25E2-599B104E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952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A982F9-3C0C-AB4D-1A88-B5A5D5B8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D40B2B6-9CAC-03D0-C046-6CF4DEE72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24C66BAF-7C9B-CA06-4BDA-899456BE9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DCB18E3-ED6A-8BEE-52C3-54A1E4B6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015E0C84-FAD9-E276-77D9-FF2132A0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EB582B72-09E7-E54E-2207-0447FC28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23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A40C86B-4870-7DFE-A0ED-25F6B086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C2A60F1-46C1-A8FA-FA63-3C9D43A6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7EA1011-2675-A92F-D3D0-BE1C87544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EBF67CDB-C862-1D3C-669D-223B63F74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86DDC34D-5908-D5D3-FF9D-124BD487D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34921A79-8E0A-05B3-E3F3-731901EF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6D106487-9B01-A45A-6C1E-1F0B1E2B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BFC68A86-4559-8908-FA28-B1C83E1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63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78D1FBC-E838-4C9C-05DB-AB489176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0F7C570B-D153-DB61-263F-DC8F1812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4CB8DE7-1814-8EDB-E3B9-49F5EAE7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8DDBAD61-81E5-27EB-3A5D-4C145EA5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241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BCA0C9BF-A845-7AD6-AF3C-DD55BB5D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E2E1FC0D-38B4-B8D4-56E4-264F61CA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950BFF9-B034-13E6-F70C-AD989A35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710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0C029AC-7F3E-1461-100E-5721DD15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CCCC52D-89CF-29C4-8E0A-81F90CF6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7626010-6A48-EA08-EB3C-88FC11761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87F50AB-F873-3447-28F1-B13CB0CC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07FE60E8-2562-98ED-FBF1-7F15F3DF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B7B78B7-3BCD-649B-A7F5-086E998F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093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9E86869-F859-7234-52B0-0487DEA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DE875357-41A1-F044-0291-2763C6250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769FFE90-5D9F-35DD-AF50-437704A1F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264ABB9-D644-AF58-DE12-EF543060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BC198FD-C522-B63F-84DE-DCA029AE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3AB8A5C-560E-24C3-84D3-C9CE3F96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704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12614B4-5C0A-460A-898B-EC5725D4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87002331-8800-23EC-0C1C-8B66A71BC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989E080-B9B4-B68B-3C79-AE161D99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DB6E1C1-8EA7-6FAE-AAC6-71ACBCEC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3BF285A-1467-FF4D-5972-BFBACC2E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902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F665C845-BE40-98B8-FC4F-535627099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FE249D2F-1C72-29F0-ECBB-BF2DD58D6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E16D31E-A4F7-3BF0-8EDC-A19DD7DF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0315D4A-A608-E177-90E5-34CAF804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3FF7A7F-AE79-2FE5-386D-D4C9B143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789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401ADE7C-D7F1-B81A-2615-41B5322E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DD87071-E179-EEC5-5849-B117CF55A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D44EB58-71F0-3F2D-1B8C-E119BB545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35D3E-3114-2042-869A-4401392328AE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29A710B-9819-F4BE-5629-C5FE5C148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91C3908-6698-6F5D-C7B3-E5FFAC26B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72165-6C57-9E4B-8BAA-469839A242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585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689A6D7-36B2-87F7-BE58-F8C7D4AF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3EBAC6B-16D1-5A07-8E23-7CE7E588397B}"/>
              </a:ext>
            </a:extLst>
          </p:cNvPr>
          <p:cNvSpPr txBox="1"/>
          <p:nvPr/>
        </p:nvSpPr>
        <p:spPr>
          <a:xfrm>
            <a:off x="4200525" y="1146657"/>
            <a:ext cx="7343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ทำอย่างไรเมื่อ</a:t>
            </a:r>
          </a:p>
          <a:p>
            <a:pPr algn="r"/>
            <a:r>
              <a:rPr lang="th-TH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ชีวิตผิดพลาด</a:t>
            </a:r>
            <a:r>
              <a:rPr lang="en-US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? </a:t>
            </a:r>
            <a:endParaRPr lang="th-TH" sz="80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D8EF6933-0A41-E843-0BAB-BE7A5D7AB319}"/>
              </a:ext>
            </a:extLst>
          </p:cNvPr>
          <p:cNvSpPr txBox="1"/>
          <p:nvPr/>
        </p:nvSpPr>
        <p:spPr>
          <a:xfrm>
            <a:off x="3625517" y="3470369"/>
            <a:ext cx="8335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HOW TO DEAL WITH LIFE'S MISTAKES</a:t>
            </a:r>
            <a:r>
              <a:rPr lang="th-TH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 </a:t>
            </a:r>
            <a:r>
              <a:rPr lang="en-US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?</a:t>
            </a:r>
            <a:endParaRPr lang="th-TH" sz="24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E228E531-7340-BFA6-AD92-739BE6FEA4EA}"/>
              </a:ext>
            </a:extLst>
          </p:cNvPr>
          <p:cNvSpPr txBox="1"/>
          <p:nvPr/>
        </p:nvSpPr>
        <p:spPr>
          <a:xfrm>
            <a:off x="5759116" y="3959300"/>
            <a:ext cx="5785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มาระโก </a:t>
            </a:r>
            <a:r>
              <a:rPr lang="en-US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14:27-31,66-72</a:t>
            </a:r>
          </a:p>
          <a:p>
            <a:pPr algn="r"/>
            <a:r>
              <a:rPr lang="en-US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Mark 14:27-31,66-72</a:t>
            </a:r>
            <a:endParaRPr lang="th-TH" sz="40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  <p:pic>
        <p:nvPicPr>
          <p:cNvPr id="11" name="รูปภาพ 10" descr="รูปภาพประกอบด้วย ใบหน้าของมนุษย์, จิตรกรรม, การวาดภาพ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EF765E0-361F-8123-9D0B-E6446D125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4973053" cy="795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7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9BC1-4F53-F799-72C8-F9E7C643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35AEE7C3-6B69-EA39-49FC-CEF7E408D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4D7B2B45-CEF2-CE84-3F0D-95DF38EA14D0}"/>
              </a:ext>
            </a:extLst>
          </p:cNvPr>
          <p:cNvSpPr txBox="1"/>
          <p:nvPr/>
        </p:nvSpPr>
        <p:spPr>
          <a:xfrm>
            <a:off x="546183" y="1233915"/>
            <a:ext cx="11335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'พระเยซูจึงตรัสกับเหล่าสาวกว่า &lt;&lt;ท่านทุกคนจะทิ้งเรา ด้วยมีคำเขียนไว้ในพระคัมภีร์ว่า &lt;เราจะประหารผู้เลี้ยงแกะ และแกะฝูงนั้นจะกระจัดกระจายไป&gt; แต่เมื่อทรงชุบให้เราฟื้นขึ้นมาแล้ว เราจะไปยังแคว้นกาล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ิลี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ก่อนหน้าท่าน&gt;&gt; 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ทูลพระองค์ว่า &lt;&lt;แม้คนทั้งปวงจะทิ้งพระองค์ ข้าพระองค์จะทิ้งก็หามิได้&gt;&gt; พระเยซูจึงตรัสกับเขาว่า &lt;&lt;เราบอกความจริงแก่ท่านว่า ในคืนนี้เอง ก่อนไก่จะขันสองหน ท่านจะปฏิเสธเราสามครั้ง&gt;&gt; แต่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โตรท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ูล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แข็งแรงทีเดียวว่า &lt;&lt;ถึงแม้ข้าพระองค์จะต้องตายกับพระองค์ ข้าพระองค์ก็จะไม่ปฏิเสธพระองค์เลย&gt;&gt; เหล่าสาวกก็ทูลเช่นนั้นเหมือนกันทุกคน </a:t>
            </a:r>
            <a:endParaRPr lang="en-US" sz="24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  <a:p>
            <a:pPr algn="thaiDist">
              <a:lnSpc>
                <a:spcPct val="150000"/>
              </a:lnSpc>
            </a:pPr>
            <a:endParaRPr lang="th-TH" sz="24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66A10B26-EBF6-3A7F-8B0B-4A998C8DE3DF}"/>
              </a:ext>
            </a:extLst>
          </p:cNvPr>
          <p:cNvSpPr txBox="1"/>
          <p:nvPr/>
        </p:nvSpPr>
        <p:spPr>
          <a:xfrm>
            <a:off x="6096000" y="98117"/>
            <a:ext cx="5785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มาระโก </a:t>
            </a:r>
            <a:r>
              <a:rPr lang="en-US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14:27-31,66-72</a:t>
            </a:r>
          </a:p>
          <a:p>
            <a:pPr algn="r"/>
            <a:r>
              <a:rPr lang="en-US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Mark 14:27-31,66-72</a:t>
            </a:r>
            <a:endParaRPr lang="th-TH" sz="24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9174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2477-D696-4425-6210-D6243097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BE096B9B-6AEE-420D-4DFD-E3859DE2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3F10C81-5D64-BEB1-787D-BDFA5A76617B}"/>
              </a:ext>
            </a:extLst>
          </p:cNvPr>
          <p:cNvSpPr txBox="1"/>
          <p:nvPr/>
        </p:nvSpPr>
        <p:spPr>
          <a:xfrm>
            <a:off x="428499" y="929114"/>
            <a:ext cx="1133500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ฝ่าย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เมื่อยังอยู่ที่ลานบ้านข้างล่าง มีหญิงคนหนึ่งในพวกสาวใช้ของท่านมหาปุโรหิตเดินมา เมื่อเห็น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ผิงไฟอยู่ เขาเขม้นดูแล้วพูดว่า &lt;&lt;แกได้อยู่กับเยซูชาวนาซา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เร็ธ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ด้วยเหมือนกัน&gt;&gt; แต่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ปฏิเสธว่า &lt;&lt;ที่เจ้าว่านั้นข้าไม่รู้เรื่องและไม่เข้าใจ&gt;&gt; 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จึงออกไปที่ประตูบ้าน อีกครั้งหนึ่งสาวใช้คนนั้นได้เห็น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 แล้วบอกกับคนที่ยืนอยู่ที่นั่นว่า &lt;&lt;คนนี้แหละเป็นพวกเขา&gt;&gt; แต่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โตรก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็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ปฏิเสธอีก แล้วอีกสักครู่หนึ่งคนทั้งหลายที่ยืนอยู่ที่นั่นได้ว่าแก่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ว่า &lt;&lt;เจ้าเป็นคนหนึ่งในพวกนั้นแน่แล้ว ด้วยว่าเจ้าเป็นชาวกาล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ิลี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&gt;&gt; แต่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เริ่มสบถสาบานใหญ่ว่า &lt;&lt;คนที่เจ้าว่านั้นข้าไม่รู้จัก&gt;&gt; ในทันใดนั้นไก่ก็ขันเป็นครั้งที่สอง 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จึงระลึกถึงคำที่พระเยซูตรัสไว้แก่เขาว่า &lt;&lt;ก่อนไก่ขันสองหน ท่านจะปฏิเสธเราสามครั้ง&gt;&gt; เมื่อ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รห</a:t>
            </a:r>
            <a:r>
              <a:rPr lang="th-TH" sz="24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วนคิดขึ้นได้ก็ร้องไห้'</a:t>
            </a:r>
          </a:p>
          <a:p>
            <a:pPr algn="thaiDist">
              <a:lnSpc>
                <a:spcPct val="150000"/>
              </a:lnSpc>
            </a:pPr>
            <a:endParaRPr lang="th-TH" sz="24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36EA4518-19F6-8721-A3B6-ED75A754A33F}"/>
              </a:ext>
            </a:extLst>
          </p:cNvPr>
          <p:cNvSpPr txBox="1"/>
          <p:nvPr/>
        </p:nvSpPr>
        <p:spPr>
          <a:xfrm>
            <a:off x="6096000" y="98117"/>
            <a:ext cx="5785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มาระโก </a:t>
            </a:r>
            <a:r>
              <a:rPr lang="en-US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14:27-31,66-72</a:t>
            </a:r>
          </a:p>
          <a:p>
            <a:pPr algn="r"/>
            <a:r>
              <a:rPr lang="en-US" sz="24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Mark 14:27-31,66-72</a:t>
            </a:r>
            <a:endParaRPr lang="th-TH" sz="24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3649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3282B4A9-9E06-460C-002A-1EE353C784E1}"/>
              </a:ext>
            </a:extLst>
          </p:cNvPr>
          <p:cNvSpPr txBox="1"/>
          <p:nvPr/>
        </p:nvSpPr>
        <p:spPr>
          <a:xfrm>
            <a:off x="5775158" y="496280"/>
            <a:ext cx="5967663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เหตุการณ์นี้พูดถึง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ที่ปฏิเสธพระเยซู ก่อนที่พระเยซูจะถูกตรึงกางเขน พระเยซูทรงเตือน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ล่วงหน้าว่าเขาจะปฏิเสธพระองค์ 3 ครั้ง แต่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เปโตร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มั่นใจว่าตัวเองจะไม่ทำเช่นนั้น เมื่อพระเยซูถูกจับ 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โตรกลับกลัวและปฏิเสธว่าไม่รู้จักพระองค์ถึง 3 ครั้ง เมื่อไก่ขันเป็นครั้งที่สอง 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400" b="1" dirty="0" err="1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จึงนึกถึงคำเตือนของพระเยซูและรู้ว่าตนเองได้ทำผิด เขาจึงร้องไห้ด้วยความเสียใจ</a:t>
            </a:r>
          </a:p>
        </p:txBody>
      </p:sp>
      <p:pic>
        <p:nvPicPr>
          <p:cNvPr id="7" name="รูปภาพ 6" descr="รูปภาพประกอบด้วย จิตรกรรม, เสื้อผ้า, ศิลปะ, ใบหน้าของมนุษย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BF0A752-FBDA-4CBA-7684-44908B59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314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8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>
            <a:extLst>
              <a:ext uri="{FF2B5EF4-FFF2-40B4-BE49-F238E27FC236}">
                <a16:creationId xmlns:a16="http://schemas.microsoft.com/office/drawing/2014/main" id="{E770E2CD-9A51-26ED-A933-E2BF5755AA4A}"/>
              </a:ext>
            </a:extLst>
          </p:cNvPr>
          <p:cNvSpPr/>
          <p:nvPr/>
        </p:nvSpPr>
        <p:spPr>
          <a:xfrm>
            <a:off x="404734" y="379712"/>
            <a:ext cx="7615004" cy="1307760"/>
          </a:xfrm>
          <a:prstGeom prst="roundRect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B28ACDC8-EC1B-DA96-3C48-8B58685A6A37}"/>
              </a:ext>
            </a:extLst>
          </p:cNvPr>
          <p:cNvSpPr txBox="1"/>
          <p:nvPr/>
        </p:nvSpPr>
        <p:spPr>
          <a:xfrm>
            <a:off x="529387" y="364033"/>
            <a:ext cx="73152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i="1" dirty="0">
                <a:solidFill>
                  <a:srgbClr val="EDE9DB"/>
                </a:solidFill>
                <a:latin typeface="Kanit" pitchFamily="2" charset="-34"/>
                <a:cs typeface="Kanit" pitchFamily="2" charset="-34"/>
              </a:rPr>
              <a:t>ตัวอย่างบุคคลในพระคัมภีร์ที่เคยผ่านความผิดพลาดครั้งใหญ่ 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8DDADEB8-3070-9CD9-3DC6-81D5D6DA899C}"/>
              </a:ext>
            </a:extLst>
          </p:cNvPr>
          <p:cNvSpPr txBox="1"/>
          <p:nvPr/>
        </p:nvSpPr>
        <p:spPr>
          <a:xfrm>
            <a:off x="665743" y="1953973"/>
            <a:ext cx="70505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buNone/>
            </a:pPr>
            <a:r>
              <a:rPr lang="th-TH" sz="3600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กษัตริย์เดวิด (</a:t>
            </a:r>
            <a:r>
              <a:rPr lang="en-US" sz="3600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David)</a:t>
            </a:r>
          </a:p>
          <a:p>
            <a:pPr algn="thaiDist"/>
            <a:r>
              <a:rPr lang="th-TH" i="1" dirty="0">
                <a:solidFill>
                  <a:srgbClr val="F2B165"/>
                </a:solidFill>
                <a:latin typeface="Kanit Medium" pitchFamily="2" charset="-34"/>
                <a:cs typeface="Kanit Medium" pitchFamily="2" charset="-34"/>
              </a:rPr>
              <a:t>ความผิดพลาด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: ทำผิดบาปเรื่องการล่วงประเวณีกับนางบ</a:t>
            </a:r>
            <a:r>
              <a:rPr lang="th-TH" i="1" dirty="0" err="1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ัทเช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บา และวางแผน</a:t>
            </a:r>
            <a:r>
              <a:rPr lang="th-TH" i="1" dirty="0" err="1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ส่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งอ</a:t>
            </a:r>
            <a:r>
              <a:rPr lang="th-TH" i="1" dirty="0" err="1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ุ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รียา</a:t>
            </a:r>
            <a:r>
              <a:rPr lang="th-TH" i="1" dirty="0" err="1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ห์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 (สามีของเธอ) ไปสู่ความตายในสงครามเพื่อกลบเกลื่อนความผิด</a:t>
            </a:r>
          </a:p>
          <a:p>
            <a:pPr algn="thaiDist"/>
            <a:r>
              <a:rPr lang="th-TH" i="1" dirty="0">
                <a:solidFill>
                  <a:srgbClr val="F2B165"/>
                </a:solidFill>
                <a:latin typeface="Kanit Medium" pitchFamily="2" charset="-34"/>
                <a:cs typeface="Kanit Medium" pitchFamily="2" charset="-34"/>
              </a:rPr>
              <a:t>บทเรียน</a:t>
            </a:r>
            <a:r>
              <a:rPr lang="en-US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: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เมื่อถูกผู้เผยพระวจนะนา</a:t>
            </a:r>
            <a:r>
              <a:rPr lang="th-TH" i="1" dirty="0" err="1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ธัน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ตักเตือน เดวิดยอมรับผิดอย่างจริงใจและสำนึกบาป (ปรากฏในเพลงสดุดี บทที่ 51) แม้จะต้องเผชิญกับผลลัพธ์ของความผิดพลาดในครอบครัว แต่พระเจ้าก็ทรงอภัยและให้โอกาสเขาเริ่มต้นใหม่</a:t>
            </a:r>
          </a:p>
        </p:txBody>
      </p:sp>
      <p:pic>
        <p:nvPicPr>
          <p:cNvPr id="9" name="รูปภาพ 8" descr="รูปภาพประกอบด้วย เสื้อผ้า, จิตรกรรม, ศิลปะ, ค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3B162EAB-A063-4D55-0C76-CEE74B297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064" y="0"/>
            <a:ext cx="3858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3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70B2-45B1-9343-AE25-2DCB7AF1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มุมมน 1">
            <a:extLst>
              <a:ext uri="{FF2B5EF4-FFF2-40B4-BE49-F238E27FC236}">
                <a16:creationId xmlns:a16="http://schemas.microsoft.com/office/drawing/2014/main" id="{45CDEDAA-4824-B413-C9C4-053369C30175}"/>
              </a:ext>
            </a:extLst>
          </p:cNvPr>
          <p:cNvSpPr/>
          <p:nvPr/>
        </p:nvSpPr>
        <p:spPr>
          <a:xfrm>
            <a:off x="415497" y="364032"/>
            <a:ext cx="7615004" cy="1323439"/>
          </a:xfrm>
          <a:prstGeom prst="roundRect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DE7DD8A7-217A-929A-FADD-789FA2C0CCB5}"/>
              </a:ext>
            </a:extLst>
          </p:cNvPr>
          <p:cNvSpPr txBox="1"/>
          <p:nvPr/>
        </p:nvSpPr>
        <p:spPr>
          <a:xfrm>
            <a:off x="529387" y="364033"/>
            <a:ext cx="73152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i="1" dirty="0">
                <a:solidFill>
                  <a:srgbClr val="EDE9DB"/>
                </a:solidFill>
                <a:latin typeface="Kanit" pitchFamily="2" charset="-34"/>
                <a:cs typeface="Kanit" pitchFamily="2" charset="-34"/>
              </a:rPr>
              <a:t>ตัวอย่างบุคคลในพระคัมภีร์ที่เคยผ่านความผิดพลาดครั้งใหญ่ 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4885E71-7173-AB5C-5518-46E31F4FA667}"/>
              </a:ext>
            </a:extLst>
          </p:cNvPr>
          <p:cNvSpPr txBox="1"/>
          <p:nvPr/>
        </p:nvSpPr>
        <p:spPr>
          <a:xfrm>
            <a:off x="661733" y="1687472"/>
            <a:ext cx="705051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buNone/>
            </a:pPr>
            <a:r>
              <a:rPr lang="th-TH" sz="3600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โมเสส (</a:t>
            </a:r>
            <a:r>
              <a:rPr lang="en-US" sz="3600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Moses)</a:t>
            </a:r>
          </a:p>
          <a:p>
            <a:pPr algn="thaiDist">
              <a:buNone/>
            </a:pPr>
            <a:r>
              <a:rPr lang="th-TH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ความผิดพลาด: 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ใช้อารมณ์และความเย่อหยิ่งด้วยการใช้ไม้เท้าตีหิน 2 ครั้งเพื่อให้น้ำไหลออกมา แทนที่จะพูดกับหินตามที่พระเจ้าทรงสั่ง ทำให้ไม่ได้แสดงความบริสุทธิ์ของพระเจ้าต่อหน้าคนอิสราเอล</a:t>
            </a:r>
            <a:endParaRPr lang="th-TH" sz="3600" b="1" i="1" dirty="0">
              <a:solidFill>
                <a:srgbClr val="F2B165"/>
              </a:solidFill>
              <a:latin typeface="Kanit SemiBold" pitchFamily="2" charset="-34"/>
              <a:cs typeface="Kanit SemiBold" pitchFamily="2" charset="-34"/>
            </a:endParaRPr>
          </a:p>
          <a:p>
            <a:pPr algn="thaiDist">
              <a:buNone/>
            </a:pPr>
            <a:r>
              <a:rPr lang="th-TH" b="1" i="1" dirty="0">
                <a:solidFill>
                  <a:srgbClr val="F2B165"/>
                </a:solidFill>
                <a:latin typeface="Kanit SemiBold" pitchFamily="2" charset="-34"/>
                <a:cs typeface="Kanit SemiBold" pitchFamily="2" charset="-34"/>
              </a:rPr>
              <a:t>บทเรียน: </a:t>
            </a:r>
            <a:r>
              <a:rPr lang="th-TH" i="1" dirty="0">
                <a:solidFill>
                  <a:srgbClr val="EDE9DB"/>
                </a:solidFill>
                <a:latin typeface="Kanit Medium" pitchFamily="2" charset="-34"/>
                <a:cs typeface="Kanit Medium" pitchFamily="2" charset="-34"/>
              </a:rPr>
              <a:t>ความผิดพลาดนี้นำไปสู่ผลลัพธ์คือการไม่ได้นำชนชาติอิสราเอลเข้าสู่แผ่นดินพันธสัญญา แต่โมเสสยังคงสัตย์ซื่อในการนำชนชาติอิสราเอลต่อไปจนจบชีวิต และเป็นตัวอย่างของผู้นำที่มีความถ่อมใจอย่างยิ่ง</a:t>
            </a:r>
            <a:endParaRPr lang="th-TH" sz="2000" i="1" dirty="0">
              <a:solidFill>
                <a:srgbClr val="EDE9DB"/>
              </a:solidFill>
              <a:latin typeface="Kanit Medium" pitchFamily="2" charset="-34"/>
              <a:cs typeface="Kanit Medium" pitchFamily="2" charset="-34"/>
            </a:endParaRPr>
          </a:p>
        </p:txBody>
      </p:sp>
      <p:pic>
        <p:nvPicPr>
          <p:cNvPr id="3" name="รูปภาพ 2" descr="รูปภาพประกอบด้วย การธุดงค์, จิตรกรรม, กลางแจ้ง, ท้องฟ้า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DD0A334-3D87-3D25-896D-EED51F92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758" y="0"/>
            <a:ext cx="3843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5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3DB7-6703-4C8D-6B4D-84D20F1B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9AF636D0-ABDB-C064-D5D4-61155C8904D9}"/>
              </a:ext>
            </a:extLst>
          </p:cNvPr>
          <p:cNvSpPr txBox="1"/>
          <p:nvPr/>
        </p:nvSpPr>
        <p:spPr>
          <a:xfrm>
            <a:off x="529387" y="502436"/>
            <a:ext cx="73152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4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ไม่มีใครไม่เคยผิดพลาด </a:t>
            </a:r>
          </a:p>
          <a:p>
            <a:r>
              <a:rPr lang="th-TH" sz="4400" b="1" i="1" dirty="0">
                <a:solidFill>
                  <a:srgbClr val="EDE9DB"/>
                </a:solidFill>
                <a:latin typeface="Kanit" pitchFamily="2" charset="-34"/>
                <a:cs typeface="Kanit" pitchFamily="2" charset="-34"/>
              </a:rPr>
              <a:t>แต่สิ่งที่สำคัญมากกว่าการที่คุณเคยผิดพลาดหรือไม่ </a:t>
            </a:r>
          </a:p>
          <a:p>
            <a:r>
              <a:rPr lang="th-TH" sz="4400" b="1" i="1" dirty="0">
                <a:solidFill>
                  <a:srgbClr val="EDE9DB"/>
                </a:solidFill>
                <a:latin typeface="Kanit" pitchFamily="2" charset="-34"/>
                <a:cs typeface="Kanit" pitchFamily="2" charset="-34"/>
              </a:rPr>
              <a:t>คือ </a:t>
            </a:r>
            <a:r>
              <a:rPr lang="th-TH" sz="44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การที่คุณตอบสนองความผิดพลาดของเราอย่างไร </a:t>
            </a:r>
            <a:r>
              <a:rPr lang="en-US" sz="44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? </a:t>
            </a:r>
          </a:p>
        </p:txBody>
      </p:sp>
      <p:pic>
        <p:nvPicPr>
          <p:cNvPr id="4" name="รูปภาพ 3" descr="รูปภาพประกอบด้วย คน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BF75814D-D64A-03F7-7494-03A207D8C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064" y="0"/>
            <a:ext cx="3858936" cy="6858000"/>
          </a:xfrm>
          <a:prstGeom prst="rect">
            <a:avLst/>
          </a:prstGeom>
        </p:spPr>
      </p:pic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E237A56B-53DF-FE79-F5D7-AB3F4ABF6D4B}"/>
              </a:ext>
            </a:extLst>
          </p:cNvPr>
          <p:cNvSpPr txBox="1"/>
          <p:nvPr/>
        </p:nvSpPr>
        <p:spPr>
          <a:xfrm>
            <a:off x="529388" y="5115312"/>
            <a:ext cx="64489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2B165"/>
                </a:solidFill>
                <a:latin typeface="Bai Jamjuree ExtraLight" pitchFamily="2" charset="-34"/>
                <a:cs typeface="Bai Jamjuree ExtraLight" pitchFamily="2" charset="-34"/>
              </a:rPr>
              <a:t>No one has never made a mistake.</a:t>
            </a:r>
          </a:p>
          <a:p>
            <a:pPr>
              <a:buNone/>
            </a:pPr>
            <a:r>
              <a:rPr lang="en-US" sz="2000" dirty="0">
                <a:solidFill>
                  <a:srgbClr val="EDE9DB"/>
                </a:solidFill>
                <a:latin typeface="Bai Jamjuree ExtraLight" pitchFamily="2" charset="-34"/>
                <a:cs typeface="Bai Jamjuree ExtraLight" pitchFamily="2" charset="-34"/>
              </a:rPr>
              <a:t>But what matters more than whether you have ever made a mistake</a:t>
            </a:r>
            <a:r>
              <a:rPr lang="th-TH" sz="2000" dirty="0">
                <a:solidFill>
                  <a:srgbClr val="EDE9DB"/>
                </a:solidFill>
                <a:latin typeface="Bai Jamjuree ExtraLight" pitchFamily="2" charset="-34"/>
                <a:cs typeface="Bai Jamjuree ExtraLight" pitchFamily="2" charset="-34"/>
              </a:rPr>
              <a:t> </a:t>
            </a:r>
            <a:r>
              <a:rPr lang="en-US" sz="2000" dirty="0">
                <a:solidFill>
                  <a:srgbClr val="EDE9DB"/>
                </a:solidFill>
                <a:latin typeface="Bai Jamjuree ExtraLight" pitchFamily="2" charset="-34"/>
                <a:cs typeface="Bai Jamjuree ExtraLight" pitchFamily="2" charset="-34"/>
              </a:rPr>
              <a:t>is </a:t>
            </a:r>
            <a:r>
              <a:rPr lang="en-US" sz="2000" dirty="0">
                <a:solidFill>
                  <a:srgbClr val="F2B165"/>
                </a:solidFill>
                <a:latin typeface="Bai Jamjuree ExtraLight" pitchFamily="2" charset="-34"/>
                <a:cs typeface="Bai Jamjuree ExtraLight" pitchFamily="2" charset="-34"/>
              </a:rPr>
              <a:t>how you respond to your mistakes.</a:t>
            </a:r>
          </a:p>
        </p:txBody>
      </p:sp>
    </p:spTree>
    <p:extLst>
      <p:ext uri="{BB962C8B-B14F-4D97-AF65-F5344CB8AC3E}">
        <p14:creationId xmlns:p14="http://schemas.microsoft.com/office/powerpoint/2010/main" val="167806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3920-1BE9-2064-0B73-BF5572B0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EC03D9E1-70D3-521F-FE30-58598888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B4B81DA-6385-396B-0DB4-2CE11C2A9B6D}"/>
              </a:ext>
            </a:extLst>
          </p:cNvPr>
          <p:cNvSpPr txBox="1"/>
          <p:nvPr/>
        </p:nvSpPr>
        <p:spPr>
          <a:xfrm>
            <a:off x="4200525" y="1146657"/>
            <a:ext cx="7343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ทำอย่างไรเมื่อ</a:t>
            </a:r>
          </a:p>
          <a:p>
            <a:pPr algn="r"/>
            <a:r>
              <a:rPr lang="th-TH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ชีวิตผิดพลาด</a:t>
            </a:r>
            <a:r>
              <a:rPr lang="en-US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? </a:t>
            </a:r>
            <a:endParaRPr lang="th-TH" sz="80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ECC650E-F6F7-52ED-9EFC-2EF2320130AD}"/>
              </a:ext>
            </a:extLst>
          </p:cNvPr>
          <p:cNvSpPr txBox="1"/>
          <p:nvPr/>
        </p:nvSpPr>
        <p:spPr>
          <a:xfrm>
            <a:off x="3625517" y="3470369"/>
            <a:ext cx="8335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HOW TO DEAL WITH LIFE'S MISTAKES</a:t>
            </a:r>
            <a:r>
              <a:rPr lang="th-TH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 </a:t>
            </a:r>
            <a:r>
              <a:rPr lang="en-US" sz="24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?</a:t>
            </a:r>
            <a:endParaRPr lang="th-TH" sz="24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B94396B6-EF96-09CF-7DC5-B3E83AC0A160}"/>
              </a:ext>
            </a:extLst>
          </p:cNvPr>
          <p:cNvSpPr txBox="1"/>
          <p:nvPr/>
        </p:nvSpPr>
        <p:spPr>
          <a:xfrm>
            <a:off x="5759116" y="3959300"/>
            <a:ext cx="5785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มาระโก </a:t>
            </a:r>
            <a:r>
              <a:rPr lang="en-US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14:27-31,66-72</a:t>
            </a:r>
          </a:p>
          <a:p>
            <a:pPr algn="r"/>
            <a:r>
              <a:rPr lang="en-US" sz="4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Mark 14:27-31,66-72</a:t>
            </a:r>
            <a:endParaRPr lang="th-TH" sz="4000" b="1" dirty="0">
              <a:solidFill>
                <a:srgbClr val="EDE9DB"/>
              </a:solidFill>
              <a:latin typeface="Kanit ExtraBold" pitchFamily="2" charset="-34"/>
              <a:cs typeface="Kanit ExtraBold" pitchFamily="2" charset="-34"/>
            </a:endParaRPr>
          </a:p>
        </p:txBody>
      </p:sp>
      <p:pic>
        <p:nvPicPr>
          <p:cNvPr id="11" name="รูปภาพ 10" descr="รูปภาพประกอบด้วย ใบหน้าของมนุษย์, จิตรกรรม, การวาดภาพ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38C8C67-F1BF-176E-A2C6-A32F98504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4973053" cy="795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6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2F69-51DF-12AE-A2CA-9D3A19E4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 descr="รูปภาพประกอบด้วย เสื้อผ้า, คน, รองเท้า, ชาย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66F16FE6-0543-E8EF-86A3-7F7C357E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4" r="4794"/>
          <a:stretch>
            <a:fillRect/>
          </a:stretch>
        </p:blipFill>
        <p:spPr>
          <a:xfrm>
            <a:off x="-880108" y="0"/>
            <a:ext cx="5881438" cy="6858000"/>
          </a:xfrm>
          <a:prstGeom prst="rect">
            <a:avLst/>
          </a:prstGeom>
        </p:spPr>
      </p:pic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98E14ADA-4D22-286C-EB81-5A72081D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7FD1AE2-32E5-FC91-89ED-61477C26A876}"/>
              </a:ext>
            </a:extLst>
          </p:cNvPr>
          <p:cNvSpPr txBox="1"/>
          <p:nvPr/>
        </p:nvSpPr>
        <p:spPr>
          <a:xfrm>
            <a:off x="3068665" y="1126783"/>
            <a:ext cx="886309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1.</a:t>
            </a:r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ป้องกัน</a:t>
            </a:r>
          </a:p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ความผิดพลาด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C202E81-93E9-AFF8-8F52-B73D20FAFB33}"/>
              </a:ext>
            </a:extLst>
          </p:cNvPr>
          <p:cNvSpPr txBox="1"/>
          <p:nvPr/>
        </p:nvSpPr>
        <p:spPr>
          <a:xfrm>
            <a:off x="6493537" y="3927550"/>
            <a:ext cx="5236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PREVENT MISTAKES</a:t>
            </a:r>
            <a:endParaRPr lang="th-TH" sz="40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4473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387E-ABE5-DE01-18D3-4A175EF4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44F3E54-E37F-DC9A-F1F1-3D3D3B7B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31EBF37-18A8-70E0-2463-9ABC79799CDC}"/>
              </a:ext>
            </a:extLst>
          </p:cNvPr>
          <p:cNvSpPr txBox="1"/>
          <p:nvPr/>
        </p:nvSpPr>
        <p:spPr>
          <a:xfrm>
            <a:off x="378573" y="748233"/>
            <a:ext cx="5233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1.1 </a:t>
            </a:r>
            <a:r>
              <a:rPr lang="th-TH" sz="72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การดำเนินชีวิตอย่างไม่ประมาท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AFB057B-DECE-1A0F-AC44-D0B237A30524}"/>
              </a:ext>
            </a:extLst>
          </p:cNvPr>
          <p:cNvSpPr txBox="1"/>
          <p:nvPr/>
        </p:nvSpPr>
        <p:spPr>
          <a:xfrm>
            <a:off x="375566" y="5065958"/>
            <a:ext cx="5236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LIVING WITH VIGILANCE</a:t>
            </a:r>
            <a:endParaRPr lang="th-TH" sz="40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4" name="รูปภาพ 3" descr="รูปภาพประกอบด้วย ศิลปะ, ภาพประกอ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76DE110-7B34-9E5D-BB90-4B31F8745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0" r="3504" b="3544"/>
          <a:stretch>
            <a:fillRect/>
          </a:stretch>
        </p:blipFill>
        <p:spPr>
          <a:xfrm>
            <a:off x="6192251" y="-1875357"/>
            <a:ext cx="5999749" cy="87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7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C0C73AF6-2E79-9F33-37D9-9BD1A676DA64}"/>
              </a:ext>
            </a:extLst>
          </p:cNvPr>
          <p:cNvSpPr txBox="1"/>
          <p:nvPr/>
        </p:nvSpPr>
        <p:spPr>
          <a:xfrm>
            <a:off x="729347" y="774248"/>
            <a:ext cx="565646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Jacques-Bénigne Bossuet — </a:t>
            </a: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(</a:t>
            </a:r>
            <a:r>
              <a:rPr lang="th-TH" b="1" dirty="0" err="1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ฌัก</a:t>
            </a: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-</a:t>
            </a:r>
            <a:r>
              <a:rPr lang="th-TH" b="1" dirty="0" err="1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เบ</a:t>
            </a: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-</a:t>
            </a:r>
            <a:r>
              <a:rPr lang="th-TH" b="1" dirty="0" err="1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นีญ</a:t>
            </a: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 บอส-</a:t>
            </a:r>
            <a:r>
              <a:rPr lang="th-TH" b="1" dirty="0" err="1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เว</a:t>
            </a: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) </a:t>
            </a:r>
          </a:p>
          <a:p>
            <a:pPr>
              <a:buNone/>
            </a:pP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นักคิดและนักเทววิทยาฝรั่งเศส</a:t>
            </a:r>
          </a:p>
          <a:p>
            <a:pPr>
              <a:buNone/>
            </a:pPr>
            <a:endParaRPr lang="th-TH" b="1" dirty="0">
              <a:solidFill>
                <a:srgbClr val="EDE9DB"/>
              </a:solidFill>
              <a:latin typeface="Bai Jamjuree" pitchFamily="2" charset="-34"/>
              <a:cs typeface="Bai Jamjuree" pitchFamily="2" charset="-34"/>
            </a:endParaRPr>
          </a:p>
          <a:p>
            <a:pPr>
              <a:buNone/>
            </a:pPr>
            <a:r>
              <a:rPr lang="th-TH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“</a:t>
            </a:r>
            <a:r>
              <a:rPr lang="en-US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It is only attention and vigilance that can save us from surprises.”</a:t>
            </a:r>
          </a:p>
          <a:p>
            <a:pPr>
              <a:buNone/>
            </a:pPr>
            <a:endParaRPr lang="th-TH" b="1" dirty="0">
              <a:solidFill>
                <a:srgbClr val="EDE9DB"/>
              </a:solidFill>
              <a:latin typeface="Bai Jamjuree" pitchFamily="2" charset="-34"/>
              <a:cs typeface="Bai Jamjuree" pitchFamily="2" charset="-34"/>
            </a:endParaRPr>
          </a:p>
          <a:p>
            <a:pPr algn="ctr">
              <a:buNone/>
            </a:pPr>
            <a:r>
              <a:rPr lang="th-TH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“มีเพียงความใส่ใจและความระมัดระวังเท่านั้น ที่จะช่วยเราจากสิ่งที่ไม่คาดคิด”</a:t>
            </a:r>
            <a:endParaRPr lang="th-TH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7" name="รูปภาพ 6" descr="รูปภาพประกอบด้วย จิตรกรรม, ใบหน้าของมนุษย์, เสื้อผ้า, ค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9B124AB-801F-C7FF-7DA5-5305641B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514" y="0"/>
            <a:ext cx="5192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1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8F1B18F-FC53-BA8F-EB52-08B26F5E424D}"/>
              </a:ext>
            </a:extLst>
          </p:cNvPr>
          <p:cNvSpPr txBox="1"/>
          <p:nvPr/>
        </p:nvSpPr>
        <p:spPr>
          <a:xfrm>
            <a:off x="7191468" y="1012954"/>
            <a:ext cx="47553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'เหตุฉะนั้นคนที่คิดว่าตัวเองมั่นคงดีแล้ว ก็จงระวังให้ดี กลัวว่าจะล้มลง '</a:t>
            </a:r>
            <a:b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</a:br>
            <a:b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</a:br>
            <a: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1 โคริน</a:t>
            </a:r>
            <a:r>
              <a:rPr lang="th-TH" sz="44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ธ์</a:t>
            </a:r>
            <a: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 10:12</a:t>
            </a:r>
            <a:b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</a:br>
            <a:endParaRPr lang="th-TH" sz="44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</p:txBody>
      </p:sp>
      <p:pic>
        <p:nvPicPr>
          <p:cNvPr id="10" name="รูปภาพ 9" descr="รูปภาพประกอบด้วย การวาดภาพ, การ์ตูน, ภาพตัดปะ, ภาพประกอ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9C0EDEF1-1843-000F-281F-3D30B98A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9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3A03-629D-B2CA-1C7D-D259621D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B271EA43-CD07-9756-EFD6-ED217CA4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9B61DE4-D0A0-2186-3720-178735AA6FED}"/>
              </a:ext>
            </a:extLst>
          </p:cNvPr>
          <p:cNvSpPr txBox="1"/>
          <p:nvPr/>
        </p:nvSpPr>
        <p:spPr>
          <a:xfrm>
            <a:off x="379073" y="611388"/>
            <a:ext cx="62362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1.2 </a:t>
            </a:r>
            <a:r>
              <a:rPr lang="th-TH" sz="80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การมีชีวิตที่ติดสนิทกับพระเจ้า 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7C76D5C6-E2F4-1AEF-ACC2-09FA137A5530}"/>
              </a:ext>
            </a:extLst>
          </p:cNvPr>
          <p:cNvSpPr txBox="1"/>
          <p:nvPr/>
        </p:nvSpPr>
        <p:spPr>
          <a:xfrm>
            <a:off x="588936" y="4397040"/>
            <a:ext cx="6026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Living in Close Fellowship with God</a:t>
            </a:r>
            <a:endParaRPr lang="th-TH" sz="36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9" name="รูปภาพ 8" descr="รูปภาพประกอบด้วย เสื้อผ้า, ใบหน้าของมนุษย์, คน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D3FFC0D9-8925-4C09-8AD4-29E9502A9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027" y="-445416"/>
            <a:ext cx="5410949" cy="774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4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76D5-0EB2-1F60-3938-54FF7D25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631F417B-36DE-B25C-3083-BDD9C0751CD9}"/>
              </a:ext>
            </a:extLst>
          </p:cNvPr>
          <p:cNvSpPr txBox="1"/>
          <p:nvPr/>
        </p:nvSpPr>
        <p:spPr>
          <a:xfrm>
            <a:off x="4631960" y="488297"/>
            <a:ext cx="72549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'จึงเสด็จกลับมา ทรงเห็นเหล่าสาวกนอนหลับอยู่ และตรัสกับ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เป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โต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ร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ว่า &lt;&lt;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ซีโ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มนเอ๋ย ท่านนอนหลับหรือ จะคอยเฝ้าอยู่สักทุ่มเดียวไม่ได้หรือ ท่านทั้งหลายจงเฝ้าระวังและอธิษฐาน เพื่อท่านจะไม่ต้องถูกการทดลอง จิตวิญญาณพร้อมแล้วก็จริง แต่กายยังอ่อนกำลัง&gt;&gt; '</a:t>
            </a:r>
          </a:p>
          <a:p>
            <a:pPr algn="r"/>
            <a:endParaRPr lang="th-TH" sz="36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มาระโก 14:37-38</a:t>
            </a:r>
          </a:p>
        </p:txBody>
      </p:sp>
      <p:pic>
        <p:nvPicPr>
          <p:cNvPr id="3" name="รูปภาพ 2" descr="รูปภาพประกอบด้วย คน, นิ้ว, ข้อมือ, มื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C3570B5-C21D-1E55-FCEB-41F06B34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0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56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51C0-FC04-AB76-7371-2E062B6B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E476E1DC-756C-4E5A-EC97-2CB5A735D5D0}"/>
              </a:ext>
            </a:extLst>
          </p:cNvPr>
          <p:cNvSpPr txBox="1"/>
          <p:nvPr/>
        </p:nvSpPr>
        <p:spPr>
          <a:xfrm>
            <a:off x="4392118" y="1443841"/>
            <a:ext cx="74947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"เนื้อหนังนั้นอ่อนแอ 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แต่สิ่งสำคัญ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ไม่ใช่ว่าเนื้อหนังอ่อนแอแค่ไหน 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แต่อยู่ที่ว่าจิตวิญญาณ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ของคุณแข็งแกร่งเพียงใด"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— </a:t>
            </a:r>
            <a:r>
              <a:rPr lang="en-US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C.S. Lewis </a:t>
            </a:r>
            <a:endParaRPr lang="th-TH" sz="36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en-US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(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นักเขียนและนักคิดคริสเตียนชื่อดัง)</a:t>
            </a:r>
          </a:p>
        </p:txBody>
      </p:sp>
      <p:pic>
        <p:nvPicPr>
          <p:cNvPr id="7" name="รูปภาพ 6" descr="รูปภาพประกอบด้วย ใบหน้าของมนุษย์, คน, ดำและขาว, ภาพเหมือ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77F9CBC-FE05-2098-2CDB-54FCFDC4D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07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6A84-7C29-17A9-4EA7-39FB95D6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792E2CD-A733-E2F5-BE6F-6FCEBA135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B7810AD-E994-0D5E-07D3-EA7732ECC44F}"/>
              </a:ext>
            </a:extLst>
          </p:cNvPr>
          <p:cNvSpPr txBox="1"/>
          <p:nvPr/>
        </p:nvSpPr>
        <p:spPr>
          <a:xfrm>
            <a:off x="3243512" y="853036"/>
            <a:ext cx="83037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2.</a:t>
            </a:r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รับมืออย่างไรเมื่อชีวิตเกิดความผิดพลาด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060F127-DA4E-2F85-45DE-FA2DF6875ECB}"/>
              </a:ext>
            </a:extLst>
          </p:cNvPr>
          <p:cNvSpPr txBox="1"/>
          <p:nvPr/>
        </p:nvSpPr>
        <p:spPr>
          <a:xfrm>
            <a:off x="3031958" y="5008020"/>
            <a:ext cx="85153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HOW TO RESPOND WHEN LIFE GOES WRONG</a:t>
            </a:r>
            <a:endParaRPr lang="th-TH" sz="40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4" name="รูปภาพ 3" descr="รูปภาพประกอบด้วย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C6FA4F9-DC83-E400-D9AD-182023C2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97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7A24-EE26-4EDF-9C4A-C72772B6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11AB4A22-B800-A155-4DF8-EBD0961F5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4" y="-29281"/>
            <a:ext cx="4621559" cy="6932339"/>
          </a:xfrm>
          <a:prstGeom prst="rect">
            <a:avLst/>
          </a:prstGeom>
        </p:spPr>
      </p:pic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301545B-6CFB-D90A-7845-63A892C7E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8B4FBDC-D0DC-3D4B-6965-31817B6F95DB}"/>
              </a:ext>
            </a:extLst>
          </p:cNvPr>
          <p:cNvSpPr txBox="1"/>
          <p:nvPr/>
        </p:nvSpPr>
        <p:spPr>
          <a:xfrm>
            <a:off x="3978442" y="853036"/>
            <a:ext cx="75688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อย่าปฏิเสธความรักของพระเยซู 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7BE9C56-327C-6EAC-76BF-67BE3732F2FF}"/>
              </a:ext>
            </a:extLst>
          </p:cNvPr>
          <p:cNvSpPr txBox="1"/>
          <p:nvPr/>
        </p:nvSpPr>
        <p:spPr>
          <a:xfrm>
            <a:off x="5582652" y="5008020"/>
            <a:ext cx="59646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DON’T REJECT JESUS’ LOVE</a:t>
            </a:r>
            <a:endParaRPr lang="th-TH" sz="40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6C7CE8FE-714B-BCBF-AFA1-1E64041EE43D}"/>
              </a:ext>
            </a:extLst>
          </p:cNvPr>
          <p:cNvSpPr txBox="1"/>
          <p:nvPr/>
        </p:nvSpPr>
        <p:spPr>
          <a:xfrm>
            <a:off x="5054581" y="0"/>
            <a:ext cx="149912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1</a:t>
            </a:r>
            <a:endParaRPr lang="th-TH" sz="199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584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752A-F6C6-2002-5B46-AD1FC833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FB336D53-586E-1D2E-523E-AE1084BCAA88}"/>
              </a:ext>
            </a:extLst>
          </p:cNvPr>
          <p:cNvSpPr txBox="1"/>
          <p:nvPr/>
        </p:nvSpPr>
        <p:spPr>
          <a:xfrm>
            <a:off x="5126636" y="443327"/>
            <a:ext cx="67602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32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'เพราะข้าพเจ้าเชื่อมั่นว่า แม้ความตาย หรือชีวิต หรือบรรดาทูตสวรรค์ หรือเทพเจ้า หรือสิ่งซึ่งมีอยู่ในปัจจุบันนี้ หรือสิ่งซึ่งจะมีในภายหน้า หรือฤทธิ์เดชทั้งหลาย หรือซึ่งสูง หรือซึ่งลึก หรือสิ่งใดๆอื่นที่ได้ทรงสร้างแล้วนั้น จะไม่สามารถกระทำให้เราทั้งหลายขาดจากความรักของพระเจ้า ซึ่งมีอยู่ในพระเยซูคริสต์องค์พระผู้เป็นเจ้าของเราได้'</a:t>
            </a:r>
          </a:p>
          <a:p>
            <a:pPr algn="thaiDist"/>
            <a:endParaRPr lang="th-TH" sz="32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th-TH" sz="32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โรม 8:38-39</a:t>
            </a: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3CB51D91-0E59-9E68-19AC-7D81F307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1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9855-43D9-7538-4D42-8CF9F4F5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EBE1A139-6F5D-4610-44CB-5C1392E3939F}"/>
              </a:ext>
            </a:extLst>
          </p:cNvPr>
          <p:cNvSpPr txBox="1"/>
          <p:nvPr/>
        </p:nvSpPr>
        <p:spPr>
          <a:xfrm>
            <a:off x="187110" y="766732"/>
            <a:ext cx="541491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en-US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Charles Spurgeon </a:t>
            </a:r>
            <a:endParaRPr lang="th-TH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en-US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(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ชาล</a:t>
            </a:r>
            <a:r>
              <a:rPr lang="th-TH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ส์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 </a:t>
            </a:r>
            <a:r>
              <a:rPr lang="th-TH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สเปอร์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เจียน)</a:t>
            </a:r>
          </a:p>
          <a:p>
            <a:pPr algn="thaiDist"/>
            <a:endParaRPr lang="th-TH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"พระเจ้าทรงรักเราไม่ใช่เพราะเรามีคุณค่าใดๆ แต่เรามีคุณค่าเพราะพระองค์ทรงรักเราต่างหาก"</a:t>
            </a:r>
          </a:p>
          <a:p>
            <a:pPr algn="thaiDist"/>
            <a:endParaRPr lang="th-TH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en-US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Augustine of Hippo </a:t>
            </a:r>
            <a:endParaRPr lang="th-TH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en-US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(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นักบุญออก</a:t>
            </a:r>
            <a:r>
              <a:rPr lang="th-TH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ัส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ติ</a:t>
            </a:r>
            <a:r>
              <a:rPr lang="th-TH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น</a:t>
            </a:r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)</a:t>
            </a:r>
          </a:p>
          <a:p>
            <a:pPr algn="thaiDist"/>
            <a:endParaRPr lang="th-TH" sz="24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thaiDist"/>
            <a:r>
              <a:rPr lang="th-TH" sz="2400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"พระเจ้าทรงรักพวกเราแต่ละคนราวกับว่ามีเราเพียงคนเดียวในโลกให้พระองค์ทรงรัก</a:t>
            </a:r>
            <a:r>
              <a:rPr lang="th-TH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"</a:t>
            </a:r>
          </a:p>
        </p:txBody>
      </p:sp>
      <p:pic>
        <p:nvPicPr>
          <p:cNvPr id="4" name="รูปภาพ 3" descr="รูปภาพประกอบด้วย เสื้อผ้า, คน, จิตรกรรม, ใบหน้าของมนุษย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A4CBF5E4-2B1C-8A1C-C56C-65B84095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73" t="4025" r="24879"/>
          <a:stretch>
            <a:fillRect/>
          </a:stretch>
        </p:blipFill>
        <p:spPr>
          <a:xfrm>
            <a:off x="8932515" y="399712"/>
            <a:ext cx="2794790" cy="6058576"/>
          </a:xfrm>
          <a:prstGeom prst="rect">
            <a:avLst/>
          </a:prstGeom>
        </p:spPr>
      </p:pic>
      <p:pic>
        <p:nvPicPr>
          <p:cNvPr id="7" name="รูปภาพ 6" descr="รูปภาพประกอบด้วย ใบหน้าของมนุษย์, เสื้อผ้า, ภาพเหมือน, ค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EE1971C-C2D7-0982-7672-65A049DDB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85" r="18540"/>
          <a:stretch>
            <a:fillRect/>
          </a:stretch>
        </p:blipFill>
        <p:spPr>
          <a:xfrm>
            <a:off x="5879606" y="399712"/>
            <a:ext cx="2938073" cy="60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02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BFAC-8854-DD9E-A0D6-9AFDE60C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98D0C0A4-48E1-0C84-BDC9-D89D00963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60799" cy="68580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96D244B4-B273-10FC-C044-0F58A66C8426}"/>
              </a:ext>
            </a:extLst>
          </p:cNvPr>
          <p:cNvSpPr txBox="1"/>
          <p:nvPr/>
        </p:nvSpPr>
        <p:spPr>
          <a:xfrm>
            <a:off x="1424065" y="853036"/>
            <a:ext cx="105579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อย่าปฏิเสธ</a:t>
            </a:r>
          </a:p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ชุมชนแห่งความรัก</a:t>
            </a:r>
          </a:p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(คริสตจักร)  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19319D60-6D36-F381-49A1-CB1F580EE70F}"/>
              </a:ext>
            </a:extLst>
          </p:cNvPr>
          <p:cNvSpPr txBox="1"/>
          <p:nvPr/>
        </p:nvSpPr>
        <p:spPr>
          <a:xfrm>
            <a:off x="6059488" y="4903088"/>
            <a:ext cx="57611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DO NOT REJECT THE COMMUNITY OF LOVE (THE CHURCH)</a:t>
            </a:r>
            <a:endParaRPr lang="th-TH" sz="32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22BDBC9-A0D7-AC88-BD43-274849C5191E}"/>
              </a:ext>
            </a:extLst>
          </p:cNvPr>
          <p:cNvSpPr txBox="1"/>
          <p:nvPr/>
        </p:nvSpPr>
        <p:spPr>
          <a:xfrm>
            <a:off x="4760799" y="0"/>
            <a:ext cx="187102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2</a:t>
            </a:r>
            <a:endParaRPr lang="th-TH" sz="199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4669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9A439-F7E1-48A2-09B8-D9147050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 descr="รูปภาพประกอบด้วย เสื้อผ้า, ใบหน้าของมนุษย์, หญิง, ยิ้ม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581F4D6-DFCE-C54B-B4F9-A987CD342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25143" cy="6858000"/>
          </a:xfrm>
          <a:prstGeom prst="rect">
            <a:avLst/>
          </a:prstGeom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BD96963-68D7-EEED-09B4-35DEFAB1555A}"/>
              </a:ext>
            </a:extLst>
          </p:cNvPr>
          <p:cNvSpPr txBox="1"/>
          <p:nvPr/>
        </p:nvSpPr>
        <p:spPr>
          <a:xfrm>
            <a:off x="5225143" y="1228397"/>
            <a:ext cx="67602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40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'ถ้าอวัยวะอันหนึ่งเจ็บ อวัยวะทั้งหมดก็พลอยเจ็บด้วย ถ้าอวัยวะอันหนึ่งได้รับเกียรติอวัยวะทั้งหมดก็พลอยชื่นชมยินดีด้วย '</a:t>
            </a:r>
          </a:p>
          <a:p>
            <a:pPr algn="r"/>
            <a:endParaRPr lang="th-TH" sz="40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th-TH" sz="40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1 โคริน</a:t>
            </a:r>
            <a:r>
              <a:rPr lang="th-TH" sz="40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ธ์</a:t>
            </a:r>
            <a:r>
              <a:rPr lang="th-TH" sz="40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 12:26</a:t>
            </a:r>
          </a:p>
        </p:txBody>
      </p:sp>
    </p:spTree>
    <p:extLst>
      <p:ext uri="{BB962C8B-B14F-4D97-AF65-F5344CB8AC3E}">
        <p14:creationId xmlns:p14="http://schemas.microsoft.com/office/powerpoint/2010/main" val="3868252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F7D2-2833-3E00-D01D-9A69C2F4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 descr="รูปภาพประกอบด้วย การวาดภาพ, ร่าง, การออกแบบกราฟิก, กราฟิก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842CEB8-5A62-3F8F-EDE0-E0AEBB9D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3" r="14205"/>
          <a:stretch>
            <a:fillRect/>
          </a:stretch>
        </p:blipFill>
        <p:spPr>
          <a:xfrm>
            <a:off x="-418556" y="0"/>
            <a:ext cx="5085347" cy="6858000"/>
          </a:xfrm>
          <a:prstGeom prst="rect">
            <a:avLst/>
          </a:prstGeom>
        </p:spPr>
      </p:pic>
      <p:pic>
        <p:nvPicPr>
          <p:cNvPr id="5" name="รูปภาพ 4" descr="รูปภาพประกอบด้วย ข้อความ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629C11FF-08CE-FCCF-F889-E7FD0B60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12361" y="-139700"/>
            <a:ext cx="3848100" cy="356870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D4C0779-CC37-2F5A-B6D0-056FEB02C579}"/>
              </a:ext>
            </a:extLst>
          </p:cNvPr>
          <p:cNvSpPr txBox="1"/>
          <p:nvPr/>
        </p:nvSpPr>
        <p:spPr>
          <a:xfrm>
            <a:off x="4139642" y="992629"/>
            <a:ext cx="75688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กลับใจใหม่</a:t>
            </a:r>
          </a:p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และเริ่มต้น</a:t>
            </a:r>
          </a:p>
          <a:p>
            <a:pPr algn="r"/>
            <a:r>
              <a:rPr lang="th-TH" sz="88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อีกครั้ง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44654F8-4684-F52D-A4AD-2B48F2FDE767}"/>
              </a:ext>
            </a:extLst>
          </p:cNvPr>
          <p:cNvSpPr txBox="1"/>
          <p:nvPr/>
        </p:nvSpPr>
        <p:spPr>
          <a:xfrm>
            <a:off x="5823284" y="5008020"/>
            <a:ext cx="57240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REPENT AND START AGAIN: DON’T REPEAT THE SAME MISTAKE</a:t>
            </a:r>
            <a:endParaRPr lang="th-TH" sz="32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BD1BF44A-1BB5-83FF-7D85-30E1D1E9150B}"/>
              </a:ext>
            </a:extLst>
          </p:cNvPr>
          <p:cNvSpPr txBox="1"/>
          <p:nvPr/>
        </p:nvSpPr>
        <p:spPr>
          <a:xfrm>
            <a:off x="5149516" y="386948"/>
            <a:ext cx="15279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3</a:t>
            </a:r>
            <a:endParaRPr lang="th-TH" sz="166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72965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622F-E4E9-C647-F3FD-64249762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055D59E6-8392-48F3-1958-08B4C381336B}"/>
              </a:ext>
            </a:extLst>
          </p:cNvPr>
          <p:cNvSpPr txBox="1"/>
          <p:nvPr/>
        </p:nvSpPr>
        <p:spPr>
          <a:xfrm>
            <a:off x="4706911" y="1269541"/>
            <a:ext cx="68205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'ตรัสดังนี้ว่า &lt;&lt;อย่าจดจำสิ่งล่วงแล้วนั้น อย่าพิเคราะห์สิ่งเก่าก่อน ดูเถิด เรากำลังกระทำสิ่งใหม่ งอกขึ้นมาแล้ว เจ้าไม่เห็นหรือ เราจะทำทางในถิ่นทุรกันดาร และแม่น้ำในที่แห้งแล้ง '</a:t>
            </a:r>
          </a:p>
          <a:p>
            <a:pPr algn="r"/>
            <a:endParaRPr lang="th-TH" sz="36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อิสยา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ห์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 43:18-19</a:t>
            </a:r>
          </a:p>
        </p:txBody>
      </p:sp>
      <p:pic>
        <p:nvPicPr>
          <p:cNvPr id="3" name="รูปภาพ 2" descr="รูปภาพประกอบด้วย จิตรกรรม, สีศิลปะ, สี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434A390-A7A9-3E99-1AB2-5D2DD0A2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4CE5-206D-E00D-4115-97EA0C93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3AB0EF27-9871-7143-CFD7-A1D5B3B82E4D}"/>
              </a:ext>
            </a:extLst>
          </p:cNvPr>
          <p:cNvSpPr txBox="1"/>
          <p:nvPr/>
        </p:nvSpPr>
        <p:spPr>
          <a:xfrm>
            <a:off x="6096000" y="271825"/>
            <a:ext cx="556591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"กระจกมองหลัง"</a:t>
            </a:r>
          </a:p>
          <a:p>
            <a:pPr algn="r"/>
            <a:endParaRPr lang="th-TH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th-TH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ลองจินตนาการถึงการขับรถไปข้างหน้า แต่สายตาของคนขับเอาแต่จ้องมอง "กระจกมองหลัง" ตลอดเวลา เขาจะไม่สามารถมองเห็นถนนข้างหน้า ไม่เห็นป้ายเตือน และจะต้องเกิดอุบัติเหตุอย่างแน่นอน </a:t>
            </a:r>
            <a:r>
              <a:rPr lang="th-TH" b="1" dirty="0">
                <a:solidFill>
                  <a:srgbClr val="EDE9DB"/>
                </a:solidFill>
                <a:latin typeface="Chonburi" pitchFamily="2" charset="-34"/>
                <a:cs typeface="Chonburi" pitchFamily="2" charset="-34"/>
              </a:rPr>
              <a:t>กระจกมองหลังมีไว้แค่ให้เรา 'ชำเลืองมอง' เพื่อเรียนรู้และระมัดระวัง แต่มันไม่ได้มีไว้ให้ 'จ้องมอง' ตลอดการเดินทาง</a:t>
            </a:r>
          </a:p>
        </p:txBody>
      </p:sp>
      <p:pic>
        <p:nvPicPr>
          <p:cNvPr id="4" name="รูปภาพ 3" descr="รูปภาพประกอบด้วย ท้องฟ้า, พระอาทิตย์ตกดิน, กลางแจ้ง, ข้อความ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6A659F43-8A99-2799-55AC-57A39A0C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4908" cy="6858000"/>
          </a:xfrm>
          <a:prstGeom prst="rect">
            <a:avLst/>
          </a:prstGeom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C505F76-06D9-3D0F-4A42-EE1E04C4AA90}"/>
              </a:ext>
            </a:extLst>
          </p:cNvPr>
          <p:cNvSpPr txBox="1"/>
          <p:nvPr/>
        </p:nvSpPr>
        <p:spPr>
          <a:xfrm>
            <a:off x="5609743" y="5939844"/>
            <a:ext cx="6309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800" dirty="0" err="1">
                <a:solidFill>
                  <a:srgbClr val="EDE9DB"/>
                </a:solidFill>
                <a:latin typeface="Bai Jamjuree ExtraLight" pitchFamily="2" charset="-34"/>
                <a:cs typeface="Bai Jamjuree ExtraLight" pitchFamily="2" charset="-34"/>
              </a:rPr>
              <a:t>ฟีลิป</a:t>
            </a:r>
            <a:r>
              <a:rPr lang="th-TH" sz="1800" dirty="0">
                <a:solidFill>
                  <a:srgbClr val="EDE9DB"/>
                </a:solidFill>
                <a:latin typeface="Bai Jamjuree ExtraLight" pitchFamily="2" charset="-34"/>
                <a:cs typeface="Bai Jamjuree ExtraLight" pitchFamily="2" charset="-34"/>
              </a:rPr>
              <a:t>ปี 3:13-14 (“...ข้าพเจ้าทำอย่างหนึ่ง คือลืมสิ่งที่ผ่านพ้นมา แล้วโน้มตัวไปยังสิ่งที่อยู่เบื้องหน้า และข้าพเจ้าบากบั่นมุ่งไปสู่หลักชัย...”)</a:t>
            </a:r>
          </a:p>
        </p:txBody>
      </p:sp>
    </p:spTree>
    <p:extLst>
      <p:ext uri="{BB962C8B-B14F-4D97-AF65-F5344CB8AC3E}">
        <p14:creationId xmlns:p14="http://schemas.microsoft.com/office/powerpoint/2010/main" val="955440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6B48-7E69-252E-6A8A-E33308B6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15D5CAF8-3592-3F4E-9A95-1C0075B94825}"/>
              </a:ext>
            </a:extLst>
          </p:cNvPr>
          <p:cNvSpPr txBox="1"/>
          <p:nvPr/>
        </p:nvSpPr>
        <p:spPr>
          <a:xfrm>
            <a:off x="4227226" y="1228397"/>
            <a:ext cx="75547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40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'เหตุฉะนั้นท่านทั้งหลายจงหันกลับและตั้งใจใหม่ เพื่อพระเจ้าจะทรงลบล้างความผิดบาปของท่านเสีย เพื่อวาระพักผ่อนหย่อนใจจะได้มาจากพระพักตร์พระเจ้า '</a:t>
            </a:r>
          </a:p>
          <a:p>
            <a:pPr algn="r"/>
            <a:endParaRPr lang="th-TH" sz="4000" b="1" dirty="0">
              <a:solidFill>
                <a:srgbClr val="F2B165"/>
              </a:solidFill>
              <a:latin typeface="Bai Jamjuree" pitchFamily="2" charset="-34"/>
              <a:cs typeface="Bai Jamjuree" pitchFamily="2" charset="-34"/>
            </a:endParaRPr>
          </a:p>
          <a:p>
            <a:pPr algn="r"/>
            <a:r>
              <a:rPr lang="th-TH" sz="40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กิจการ 3:19</a:t>
            </a:r>
          </a:p>
        </p:txBody>
      </p:sp>
      <p:pic>
        <p:nvPicPr>
          <p:cNvPr id="3" name="รูปภาพ 2" descr="รูปภาพประกอบด้วย ข้อความ, โปสเตอร์, หนังสือพิมพ์, ศิลปะ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A9892D5D-70C3-5B6B-C3E0-18A255A86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50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6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EE76-9FEE-1C32-7749-2FAA933C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7B11193-497D-7F1E-8830-77C584242E9F}"/>
              </a:ext>
            </a:extLst>
          </p:cNvPr>
          <p:cNvSpPr txBox="1"/>
          <p:nvPr/>
        </p:nvSpPr>
        <p:spPr>
          <a:xfrm>
            <a:off x="4762274" y="1270571"/>
            <a:ext cx="70424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66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ยอมรับผลของความผิดพลาดด้วยใจขอบพระคุณ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2703F18-3179-F9B9-6812-7E9827356346}"/>
              </a:ext>
            </a:extLst>
          </p:cNvPr>
          <p:cNvSpPr txBox="1"/>
          <p:nvPr/>
        </p:nvSpPr>
        <p:spPr>
          <a:xfrm>
            <a:off x="4332146" y="4818641"/>
            <a:ext cx="74726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ACCEPT THE CONSEQUENCES OF YOUR MISTAKES WITH A THANKFUL HEART</a:t>
            </a:r>
            <a:endParaRPr lang="th-TH" sz="32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96B90D17-324E-53B1-BD16-DFC0BF2D6ECD}"/>
              </a:ext>
            </a:extLst>
          </p:cNvPr>
          <p:cNvSpPr txBox="1"/>
          <p:nvPr/>
        </p:nvSpPr>
        <p:spPr>
          <a:xfrm>
            <a:off x="5005137" y="338821"/>
            <a:ext cx="163057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4</a:t>
            </a:r>
            <a:endParaRPr lang="th-TH" sz="166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7" name="รูปภาพ 6" descr="รูปภาพประกอบด้วย การวาดภาพ, เต้นรำ, จิตรกรรม, การ์ตู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243D7020-0E24-E777-775B-8B3A26C2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176" y="0"/>
            <a:ext cx="5166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89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CF3A1-6B90-95BC-9CDA-D2706B50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 descr="รูปภาพประกอบด้วย จิตรกรรม, กลางแจ้ง, ศิลปะ, การวาดภาพ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A40C46B-1C95-C908-3633-AF488E8B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29" y="335496"/>
            <a:ext cx="7583197" cy="4261756"/>
          </a:xfrm>
          <a:prstGeom prst="rect">
            <a:avLst/>
          </a:prstGeom>
        </p:spPr>
      </p:pic>
      <p:sp>
        <p:nvSpPr>
          <p:cNvPr id="4" name="สี่เหลี่ยมผืนผ้ามุมมน 3">
            <a:extLst>
              <a:ext uri="{FF2B5EF4-FFF2-40B4-BE49-F238E27FC236}">
                <a16:creationId xmlns:a16="http://schemas.microsoft.com/office/drawing/2014/main" id="{FE5A2688-5C26-7984-9FA8-D9E8FB7A3488}"/>
              </a:ext>
            </a:extLst>
          </p:cNvPr>
          <p:cNvSpPr/>
          <p:nvPr/>
        </p:nvSpPr>
        <p:spPr>
          <a:xfrm>
            <a:off x="3491300" y="3489788"/>
            <a:ext cx="8327571" cy="2710544"/>
          </a:xfrm>
          <a:prstGeom prst="roundRect">
            <a:avLst>
              <a:gd name="adj" fmla="val 19402"/>
            </a:avLst>
          </a:prstGeom>
          <a:solidFill>
            <a:srgbClr val="EDE9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>
              <a:solidFill>
                <a:srgbClr val="DA4513"/>
              </a:solidFill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24958EDC-A36A-449B-6755-24B53A5D14C9}"/>
              </a:ext>
            </a:extLst>
          </p:cNvPr>
          <p:cNvSpPr txBox="1"/>
          <p:nvPr/>
        </p:nvSpPr>
        <p:spPr>
          <a:xfrm>
            <a:off x="3837217" y="3721676"/>
            <a:ext cx="75601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กษัตริย์ดาวิดทำผิดพลาดอย่างร้ายแรงในกรณีของนางบ</a:t>
            </a:r>
            <a:r>
              <a:rPr lang="th-TH" sz="2000" b="1" dirty="0" err="1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ัทเช</a:t>
            </a:r>
            <a:r>
              <a:rPr lang="th-TH" sz="2000" b="1" dirty="0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บา เมื่อผู้เผยพระวจนะนา</a:t>
            </a:r>
            <a:r>
              <a:rPr lang="th-TH" sz="2000" b="1" dirty="0" err="1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ธัน</a:t>
            </a:r>
            <a:r>
              <a:rPr lang="th-TH" sz="2000" b="1" dirty="0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มาตักเตือน ดาวิดยอมรับผิดอย่างสิ้นเชิง แต่ถึงกระนั้น พระเจ้าก็ยังตรัสว่าท่านต้องเผชิญกับผลของความบาป (ลูกที่เกิดมาล้มป่วยและเสียชีวิต รวมถึงปัญหาความแตกแยกในครอบครัวในเวลาต่อมา) เมื่อลูกล้มป่วย ดาวิดอดอาหารอธิษฐาน แต่เมื่อลูกตาย สิ่งที่ดาวิดทำคือ "ท่านลุกขึ้น อาบน้ำ ชโลมกาย เปลี่ยนเสื้อผ้า แล้วเข้าไปในพระนิเวศนมัสการพระเจ้า" (2 ซามูเอ</a:t>
            </a:r>
            <a:r>
              <a:rPr lang="th-TH" sz="2000" b="1" dirty="0" err="1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ล</a:t>
            </a:r>
            <a:r>
              <a:rPr lang="th-TH" sz="2000" b="1" dirty="0">
                <a:solidFill>
                  <a:srgbClr val="DA4513"/>
                </a:solidFill>
                <a:latin typeface="Bai Jamjuree" pitchFamily="2" charset="-34"/>
                <a:cs typeface="Bai Jamjuree" pitchFamily="2" charset="-34"/>
              </a:rPr>
              <a:t> 12:20)</a:t>
            </a: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C8D6982E-564F-5E68-6798-98D9D0D48E3F}"/>
              </a:ext>
            </a:extLst>
          </p:cNvPr>
          <p:cNvSpPr txBox="1"/>
          <p:nvPr/>
        </p:nvSpPr>
        <p:spPr>
          <a:xfrm>
            <a:off x="8179407" y="270180"/>
            <a:ext cx="24015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EDE9DB"/>
                </a:solidFill>
                <a:latin typeface="Avenir Next" panose="020B0503020202020204" pitchFamily="34" charset="0"/>
                <a:cs typeface="Shree Devanagari 714" panose="02000600000000000000" pitchFamily="2" charset="0"/>
              </a:rPr>
              <a:t>DAVID </a:t>
            </a:r>
          </a:p>
          <a:p>
            <a:r>
              <a:rPr lang="en-US" sz="4800" b="1" dirty="0">
                <a:solidFill>
                  <a:srgbClr val="EDE9DB"/>
                </a:solidFill>
                <a:latin typeface="Avenir Next" panose="020B0503020202020204" pitchFamily="34" charset="0"/>
                <a:cs typeface="Shree Devanagari 714" panose="02000600000000000000" pitchFamily="2" charset="0"/>
              </a:rPr>
              <a:t>THE KING</a:t>
            </a:r>
            <a:endParaRPr lang="th-TH" sz="4800" b="1" dirty="0">
              <a:solidFill>
                <a:srgbClr val="EDE9DB"/>
              </a:solidFill>
              <a:latin typeface="Avenir Next" panose="020B0503020202020204" pitchFamily="34" charset="0"/>
              <a:cs typeface="C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84153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D5E0-3C1B-CE47-710C-07778484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D203110A-1D3A-9946-BBB2-2D785484BEDC}"/>
              </a:ext>
            </a:extLst>
          </p:cNvPr>
          <p:cNvSpPr txBox="1"/>
          <p:nvPr/>
        </p:nvSpPr>
        <p:spPr>
          <a:xfrm>
            <a:off x="4616971" y="674400"/>
            <a:ext cx="671529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'เมื่อมีการตีสอนนั้นดูไม่เป็นที่ชื่นใจเลย เป็นเรื่องเศร้าใจ แต่ต่อมาภายหลังก็จะก่อให้เกิดความสุขสำราญแก่บรรดาคนที่ต้องทนอยู่นั้น คือความชอบธรรมนั้นเอง '</a:t>
            </a:r>
          </a:p>
          <a:p>
            <a:pPr algn="r"/>
            <a:r>
              <a:rPr lang="th-TH" sz="44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ฮีบ</a:t>
            </a:r>
            <a:r>
              <a:rPr lang="th-TH" sz="44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รู 12:11</a:t>
            </a:r>
          </a:p>
        </p:txBody>
      </p:sp>
      <p:pic>
        <p:nvPicPr>
          <p:cNvPr id="8" name="รูปภาพ 7" descr="รูปภาพประกอบด้วย การวาดภาพ, ศิลปะ, ร่าง, จิตรกรรม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BBAFDA1-678A-970C-24DF-2A90B586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58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2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E15C-D1EC-E81A-9940-32D8B8A9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AB8A611-28E9-E42A-241B-66B9DFDB7FDC}"/>
              </a:ext>
            </a:extLst>
          </p:cNvPr>
          <p:cNvSpPr txBox="1"/>
          <p:nvPr/>
        </p:nvSpPr>
        <p:spPr>
          <a:xfrm>
            <a:off x="4062334" y="469699"/>
            <a:ext cx="77424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66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หนุนใจผู้อื่น</a:t>
            </a:r>
          </a:p>
          <a:p>
            <a:pPr algn="r"/>
            <a:r>
              <a:rPr lang="th-TH" sz="66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เพื่อเขาจะ</a:t>
            </a:r>
          </a:p>
          <a:p>
            <a:pPr algn="r"/>
            <a:r>
              <a:rPr lang="th-TH" sz="66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ไม่ผิดพลาด</a:t>
            </a:r>
          </a:p>
          <a:p>
            <a:pPr algn="r"/>
            <a:r>
              <a:rPr lang="th-TH" sz="6600" b="1" dirty="0">
                <a:solidFill>
                  <a:srgbClr val="EDE9DB"/>
                </a:solidFill>
                <a:latin typeface="Kanit ExtraBold" pitchFamily="2" charset="-34"/>
                <a:cs typeface="Kanit ExtraBold" pitchFamily="2" charset="-34"/>
              </a:rPr>
              <a:t>เหมือนกับเรา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5F09B4AC-794A-12AD-8C7F-335E7F02B404}"/>
              </a:ext>
            </a:extLst>
          </p:cNvPr>
          <p:cNvSpPr txBox="1"/>
          <p:nvPr/>
        </p:nvSpPr>
        <p:spPr>
          <a:xfrm>
            <a:off x="6059488" y="4520156"/>
            <a:ext cx="5745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ENCOURAGE OTHERS TO AVOID THE MISTAKES WE MADE</a:t>
            </a:r>
            <a:endParaRPr lang="th-TH" sz="3200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4ABED3E-A133-24E4-470C-7EC74CF2BE51}"/>
              </a:ext>
            </a:extLst>
          </p:cNvPr>
          <p:cNvSpPr txBox="1"/>
          <p:nvPr/>
        </p:nvSpPr>
        <p:spPr>
          <a:xfrm>
            <a:off x="6096000" y="314990"/>
            <a:ext cx="153599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5</a:t>
            </a:r>
            <a:endParaRPr lang="th-TH" sz="16600" b="1" dirty="0">
              <a:solidFill>
                <a:srgbClr val="F2B165"/>
              </a:solidFill>
              <a:latin typeface="Chonburi" pitchFamily="2" charset="-34"/>
              <a:cs typeface="Chonburi" pitchFamily="2" charset="-34"/>
            </a:endParaRPr>
          </a:p>
        </p:txBody>
      </p:sp>
      <p:pic>
        <p:nvPicPr>
          <p:cNvPr id="4" name="รูปภาพ 3" descr="รูปภาพประกอบด้วย เสื้อผ้า, ข้อความ, รองเท้า, แต่งตัว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072A5626-4EE3-9817-964E-502265B24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09" y="0"/>
            <a:ext cx="5501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06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C092-B2BF-74E6-1802-42B8DCF86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 descr="รูปภาพประกอบด้วย กลางแจ้ง, เสื้อผ้า, คน, ต้นไม้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A486C493-FF39-C567-C28A-5597AF30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66178" cy="6858000"/>
          </a:xfrm>
          <a:prstGeom prst="rect">
            <a:avLst/>
          </a:prstGeom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B812FCD-547D-D251-3735-405500E68C45}"/>
              </a:ext>
            </a:extLst>
          </p:cNvPr>
          <p:cNvSpPr txBox="1"/>
          <p:nvPr/>
        </p:nvSpPr>
        <p:spPr>
          <a:xfrm>
            <a:off x="4766178" y="412125"/>
            <a:ext cx="7023050" cy="631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2400" b="1" dirty="0">
                <a:solidFill>
                  <a:srgbClr val="EDE9DB"/>
                </a:solidFill>
                <a:latin typeface="Bai Jamjuree" pitchFamily="2" charset="-34"/>
                <a:cs typeface="Bai Jamjuree" pitchFamily="2" charset="-34"/>
              </a:rPr>
              <a:t>ในสมัยโบราณ การฝัดข้าวสาลีต้องนำข้าวที่เกี่ยวแล้วมาตีหรือนวดเพื่อให้เมล็ดหลุดออกจากรวง จากนั้นชาวนาจะใช้พลั่วตักข้าวโยนขึ้นไปในอากาศ ลมจะพัดเอา "แกลบและเปลือก" ที่ไร้น้ำหนักให้ปลิวหายไป และปล่อยให้ "เมล็ดข้าวสาลี" ที่แท้จริงและมีน้ำหนักตกลงมาที่พื้น</a:t>
            </a:r>
          </a:p>
          <a:p>
            <a:pPr algn="r"/>
            <a:endParaRPr lang="th-TH" sz="2400" b="1" dirty="0">
              <a:solidFill>
                <a:srgbClr val="EDE9DB"/>
              </a:solidFill>
              <a:latin typeface="Bai Jamjuree" pitchFamily="2" charset="-34"/>
              <a:cs typeface="Bai Jamjuree" pitchFamily="2" charset="-34"/>
            </a:endParaRPr>
          </a:p>
          <a:p>
            <a:pPr algn="r">
              <a:lnSpc>
                <a:spcPct val="150000"/>
              </a:lnSpc>
            </a:pPr>
            <a:r>
              <a:rPr lang="th-TH" sz="20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“เมื่อซาตานขอฝัดร่อน</a:t>
            </a:r>
            <a:r>
              <a:rPr lang="th-TH" sz="2000" b="1" i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ซีโ</a:t>
            </a:r>
            <a:r>
              <a:rPr lang="th-TH" sz="20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มนเหมือนฝัดข้าวสาลี จุดประสงค์ของมันคือการทำลาย แต่พระเจ้าทรงอนุญาตให้กระบวนการนี้เกิดขึ้นเพื่อ "ชำระ" ชีวิตของเขา การเผชิญหน้ากับความล้มเหลว (การปฏิเสธพระเยซู) เป็นเหมือนลมที่พัดเอาแกลบแห่งความเย่อหยิ่งและความเชื่อมั่นในตัวเองของ</a:t>
            </a:r>
            <a:r>
              <a:rPr lang="th-TH" sz="2000" b="1" i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เป</a:t>
            </a:r>
            <a:r>
              <a:rPr lang="th-TH" sz="20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โต</a:t>
            </a:r>
            <a:r>
              <a:rPr lang="th-TH" sz="2000" b="1" i="1" dirty="0" err="1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ร</a:t>
            </a:r>
            <a:r>
              <a:rPr lang="th-TH" sz="2000" b="1" i="1" dirty="0">
                <a:solidFill>
                  <a:srgbClr val="F2B165"/>
                </a:solidFill>
                <a:latin typeface="Chonburi" pitchFamily="2" charset="-34"/>
                <a:cs typeface="Chonburi" pitchFamily="2" charset="-34"/>
              </a:rPr>
              <a:t>ให้ปลิวหายไป สิ่งที่เหลืออยู่คือความเชื่อที่แท้จริงและจิตใจที่ถ่อมลงพึ่งพาพระเจ้าอย่างสมบูรณ์”</a:t>
            </a:r>
          </a:p>
        </p:txBody>
      </p:sp>
    </p:spTree>
    <p:extLst>
      <p:ext uri="{BB962C8B-B14F-4D97-AF65-F5344CB8AC3E}">
        <p14:creationId xmlns:p14="http://schemas.microsoft.com/office/powerpoint/2010/main" val="3891138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1729-9D8E-284F-0808-4D2AC138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BE2D864E-2DD1-748C-7334-5EA8C9343FA7}"/>
              </a:ext>
            </a:extLst>
          </p:cNvPr>
          <p:cNvSpPr txBox="1"/>
          <p:nvPr/>
        </p:nvSpPr>
        <p:spPr>
          <a:xfrm>
            <a:off x="5666282" y="672804"/>
            <a:ext cx="59208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'&lt;&lt;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ซีโ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มน 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ซีโ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มนเอ๋ย ดูเถิด ซาตานได้ขอพวกท่านไว้ เพื่อจะฝัดร่อนเหมือนฝัดข้าวสาลี แต่เราได้อธิษฐานเผื่อตัวท่าน เพื่อความเชื่อของท่านจะไม่ได้ขาด และเมื่อท่านได้หันกลับแล้ว จงชูกำลังพี่น้องทั้งหลายของท่าน&gt;&gt; '</a:t>
            </a:r>
          </a:p>
          <a:p>
            <a:pPr algn="r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ลูก</a:t>
            </a:r>
            <a:r>
              <a:rPr lang="th-TH" sz="3600" b="1" dirty="0" err="1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า</a:t>
            </a:r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 22:31-32</a:t>
            </a:r>
          </a:p>
        </p:txBody>
      </p:sp>
      <p:pic>
        <p:nvPicPr>
          <p:cNvPr id="3" name="รูปภาพ 2" descr="รูปภาพประกอบด้วย เต้นรำ, รองเท้า, เสื้อผ้า, ค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B2CC9CEA-2E66-41EC-9072-D5E54D201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66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514B-61FE-7571-4C01-89A0B74A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6A2FEAD4-DF20-3BED-6BAE-B61A9527C098}"/>
              </a:ext>
            </a:extLst>
          </p:cNvPr>
          <p:cNvSpPr txBox="1"/>
          <p:nvPr/>
        </p:nvSpPr>
        <p:spPr>
          <a:xfrm>
            <a:off x="5845629" y="653015"/>
            <a:ext cx="597007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3600" b="1" dirty="0">
                <a:solidFill>
                  <a:srgbClr val="F2B165"/>
                </a:solidFill>
                <a:latin typeface="Bai Jamjuree" pitchFamily="2" charset="-34"/>
                <a:cs typeface="Bai Jamjuree" pitchFamily="2" charset="-34"/>
              </a:rPr>
              <a:t>คนที่จะเข้าใจความหวาดกลัวและสามารถให้กำลังใจคนที่กำลังสำลักน้ำใกล้จมน้ำได้ดีที่สุด ไม่ใช่ครูสอนว่ายน้ำที่ยืนอยู่บนฝั่งแล้วตะโกนบอกทฤษฎี แต่คือคนที่เคยจมน้ำ เคยหมดหนทาง และได้รับการช่วยชีวิตขึ้นมาแล้ว เขาจะรู้ว่าต้องจับมืออย่างไรและปลอบโยนแบบไหน</a:t>
            </a:r>
          </a:p>
        </p:txBody>
      </p:sp>
      <p:pic>
        <p:nvPicPr>
          <p:cNvPr id="4" name="รูปภาพ 3" descr="รูปภาพประกอบด้วย คนเดินเตาะแตะ, เสื้อผ้า, กลางแจ้ง, ดำและขาว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075F1DFC-463F-D8F2-A81C-89EEC5930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01" y="1076385"/>
            <a:ext cx="5078313" cy="50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42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BEF9-91D9-C053-2F15-6E55CF75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รูปภาพ 6" descr="รูปภาพประกอบด้วย ข้อความ, ภาพหน้าจอ, เว็บไซต์, การโฆษณาออน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3433FDF-A614-CE5C-C1B5-6B7F94F7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52263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1878</Words>
  <Application>Microsoft Macintosh PowerPoint</Application>
  <PresentationFormat>แบบจอกว้าง</PresentationFormat>
  <Paragraphs>114</Paragraphs>
  <Slides>33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11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33</vt:i4>
      </vt:variant>
    </vt:vector>
  </HeadingPairs>
  <TitlesOfParts>
    <vt:vector size="45" baseType="lpstr">
      <vt:lpstr>Bai Jamjuree ExtraLight</vt:lpstr>
      <vt:lpstr>Bai Jamjuree</vt:lpstr>
      <vt:lpstr>Chonburi</vt:lpstr>
      <vt:lpstr>Kanit Medium</vt:lpstr>
      <vt:lpstr>Kanit SemiBold</vt:lpstr>
      <vt:lpstr>Kanit</vt:lpstr>
      <vt:lpstr>Aptos Display</vt:lpstr>
      <vt:lpstr>Arial</vt:lpstr>
      <vt:lpstr>Avenir Next</vt:lpstr>
      <vt:lpstr>Aptos</vt:lpstr>
      <vt:lpstr>Kanit ExtraBold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CVC Church</dc:creator>
  <cp:keywords/>
  <dc:description/>
  <cp:lastModifiedBy>CVC Church</cp:lastModifiedBy>
  <cp:revision>77</cp:revision>
  <dcterms:created xsi:type="dcterms:W3CDTF">2026-10-06T01:34:30Z</dcterms:created>
  <dcterms:modified xsi:type="dcterms:W3CDTF">2026-10-08T01:32:56Z</dcterms:modified>
  <cp:category/>
</cp:coreProperties>
</file>